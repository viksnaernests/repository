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AFF"/>
    <a:srgbClr val="082047"/>
    <a:srgbClr val="16C8D9"/>
    <a:srgbClr val="1E9A67"/>
    <a:srgbClr val="DFF7F6"/>
    <a:srgbClr val="A21C1C"/>
    <a:srgbClr val="FFF1F1"/>
    <a:srgbClr val="071A3D"/>
    <a:srgbClr val="12A39A"/>
    <a:srgbClr val="0B62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A31EF7-B109-90DC-DB86-31C5D7BFDADA}" v="977" dt="2026-06-11T16:10:57.6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974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749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025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386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137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855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769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596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710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16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688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024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Рисунок 3" descr="Изображение выглядит как компьютер, ноутбук, текст, Электронное устрой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6D50436-5B5D-04E3-E66D-B25068F8AD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50" t="7995" r="1443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76A10D8F-D463-70E5-239B-17AD65EF4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86506" y="603315"/>
            <a:ext cx="5649211" cy="3685731"/>
          </a:xfrm>
        </p:spPr>
        <p:txBody>
          <a:bodyPr anchor="t">
            <a:normAutofit/>
          </a:bodyPr>
          <a:lstStyle/>
          <a:p>
            <a:pPr algn="l"/>
            <a:r>
              <a:rPr lang="ru-RU" sz="6600">
                <a:ea typeface="+mj-lt"/>
                <a:cs typeface="+mj-lt"/>
              </a:rPr>
              <a:t>Drošu paroļu ģenerators</a:t>
            </a:r>
            <a:endParaRPr lang="ru-RU" sz="660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86507" y="4437176"/>
            <a:ext cx="4007587" cy="129080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ru-RU" sz="2200">
                <a:ea typeface="+mn-lt"/>
                <a:cs typeface="+mn-lt"/>
              </a:rPr>
              <a:t>Autors: Ernests Vīksna </a:t>
            </a:r>
            <a:endParaRPr lang="ru-RU" sz="2200"/>
          </a:p>
          <a:p>
            <a:pPr algn="l"/>
            <a:r>
              <a:rPr lang="ru-RU" sz="2200">
                <a:ea typeface="+mn-lt"/>
                <a:cs typeface="+mn-lt"/>
              </a:rPr>
              <a:t>12.j klase</a:t>
            </a:r>
            <a:endParaRPr lang="ru-RU" sz="2200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FDF4FC-30AF-8FE0-F365-10731F1B1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78846"/>
            <a:ext cx="3627490" cy="1154669"/>
          </a:xfrm>
        </p:spPr>
        <p:txBody>
          <a:bodyPr/>
          <a:lstStyle/>
          <a:p>
            <a:r>
              <a:rPr lang="ru-RU">
                <a:solidFill>
                  <a:srgbClr val="082047"/>
                </a:solidFill>
                <a:ea typeface="+mj-lt"/>
                <a:cs typeface="+mj-lt"/>
              </a:rPr>
              <a:t>Problēma un mērķis </a:t>
            </a:r>
            <a:endParaRPr lang="ru-RU">
              <a:solidFill>
                <a:srgbClr val="082047"/>
              </a:solidFill>
            </a:endParaRPr>
          </a:p>
        </p:txBody>
      </p:sp>
      <p:pic>
        <p:nvPicPr>
          <p:cNvPr id="7" name="Объект 6" descr="Cyber security png Vectors - Download Free High-Quality Vectors | Magnific  (formerly Freepik)">
            <a:extLst>
              <a:ext uri="{FF2B5EF4-FFF2-40B4-BE49-F238E27FC236}">
                <a16:creationId xmlns:a16="http://schemas.microsoft.com/office/drawing/2014/main" id="{D07C1FBF-3171-2F01-D1FB-8BC9224FA0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62000" y="1330245"/>
            <a:ext cx="3627491" cy="36274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6963BC-1320-0B8C-16A1-700AD49470FD}"/>
              </a:ext>
            </a:extLst>
          </p:cNvPr>
          <p:cNvSpPr txBox="1"/>
          <p:nvPr/>
        </p:nvSpPr>
        <p:spPr>
          <a:xfrm>
            <a:off x="612320" y="1712417"/>
            <a:ext cx="6377297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>
                <a:ea typeface="+mn-lt"/>
                <a:cs typeface="+mn-lt"/>
              </a:rPr>
              <a:t>Lokālā problēma</a:t>
            </a:r>
          </a:p>
          <a:p>
            <a:endParaRPr lang="ru-RU" dirty="0">
              <a:solidFill>
                <a:srgbClr val="000000"/>
              </a:solidFill>
              <a:latin typeface="Aptos"/>
            </a:endParaRPr>
          </a:p>
          <a:p>
            <a:r>
              <a:rPr lang="en-US" sz="1900" dirty="0" err="1">
                <a:solidFill>
                  <a:srgbClr val="111827"/>
                </a:solidFill>
                <a:latin typeface="Aptos"/>
              </a:rPr>
              <a:t>Lietotāji</a:t>
            </a:r>
            <a:r>
              <a:rPr lang="en-US" sz="1900" dirty="0">
                <a:solidFill>
                  <a:srgbClr val="111827"/>
                </a:solidFill>
                <a:latin typeface="Aptos"/>
              </a:rPr>
              <a:t> </a:t>
            </a:r>
            <a:r>
              <a:rPr lang="en-US" sz="1900" dirty="0" err="1">
                <a:solidFill>
                  <a:srgbClr val="111827"/>
                </a:solidFill>
                <a:latin typeface="Aptos"/>
              </a:rPr>
              <a:t>bieži</a:t>
            </a:r>
            <a:r>
              <a:rPr lang="en-US" sz="1900" dirty="0">
                <a:solidFill>
                  <a:srgbClr val="111827"/>
                </a:solidFill>
                <a:latin typeface="Aptos"/>
              </a:rPr>
              <a:t> </a:t>
            </a:r>
            <a:r>
              <a:rPr lang="en-US" sz="1900" dirty="0" err="1">
                <a:solidFill>
                  <a:srgbClr val="111827"/>
                </a:solidFill>
                <a:latin typeface="Aptos"/>
              </a:rPr>
              <a:t>izmanto</a:t>
            </a:r>
            <a:r>
              <a:rPr lang="en-US" sz="1900" dirty="0">
                <a:solidFill>
                  <a:srgbClr val="111827"/>
                </a:solidFill>
                <a:latin typeface="Aptos"/>
              </a:rPr>
              <a:t> </a:t>
            </a:r>
            <a:r>
              <a:rPr lang="en-US" sz="1900" dirty="0" err="1">
                <a:solidFill>
                  <a:srgbClr val="111827"/>
                </a:solidFill>
                <a:latin typeface="Aptos"/>
              </a:rPr>
              <a:t>īsas</a:t>
            </a:r>
            <a:r>
              <a:rPr lang="en-US" sz="1900" dirty="0">
                <a:solidFill>
                  <a:srgbClr val="111827"/>
                </a:solidFill>
                <a:latin typeface="Aptos"/>
              </a:rPr>
              <a:t> </a:t>
            </a:r>
            <a:r>
              <a:rPr lang="en-US" sz="1900" dirty="0" err="1">
                <a:solidFill>
                  <a:srgbClr val="111827"/>
                </a:solidFill>
                <a:latin typeface="Aptos"/>
              </a:rPr>
              <a:t>vai</a:t>
            </a:r>
            <a:r>
              <a:rPr lang="en-US" sz="1900" dirty="0">
                <a:solidFill>
                  <a:srgbClr val="111827"/>
                </a:solidFill>
                <a:latin typeface="Aptos"/>
              </a:rPr>
              <a:t> </a:t>
            </a:r>
            <a:r>
              <a:rPr lang="en-US" sz="1900" dirty="0" err="1">
                <a:solidFill>
                  <a:srgbClr val="111827"/>
                </a:solidFill>
                <a:latin typeface="Aptos"/>
              </a:rPr>
              <a:t>atkārtotas</a:t>
            </a:r>
            <a:r>
              <a:rPr lang="en-US" sz="1900" dirty="0">
                <a:solidFill>
                  <a:srgbClr val="111827"/>
                </a:solidFill>
                <a:latin typeface="Aptos"/>
              </a:rPr>
              <a:t> paroles.</a:t>
            </a:r>
            <a:endParaRPr lang="ru-RU" sz="1900" dirty="0">
              <a:solidFill>
                <a:srgbClr val="000000"/>
              </a:solidFill>
              <a:latin typeface="Aptos"/>
            </a:endParaRPr>
          </a:p>
          <a:p>
            <a:br>
              <a:rPr lang="en-US" sz="1900" dirty="0">
                <a:solidFill>
                  <a:srgbClr val="111827"/>
                </a:solidFill>
                <a:latin typeface="Aptos"/>
              </a:rPr>
            </a:br>
            <a:r>
              <a:rPr lang="en-US" sz="1900" dirty="0">
                <a:solidFill>
                  <a:srgbClr val="111827"/>
                </a:solidFill>
                <a:latin typeface="Aptos"/>
              </a:rPr>
              <a:t>Viena </a:t>
            </a:r>
            <a:r>
              <a:rPr lang="en-US" sz="1900" err="1">
                <a:solidFill>
                  <a:srgbClr val="111827"/>
                </a:solidFill>
                <a:latin typeface="Aptos"/>
              </a:rPr>
              <a:t>konta</a:t>
            </a:r>
            <a:r>
              <a:rPr lang="en-US" sz="1900" dirty="0">
                <a:solidFill>
                  <a:srgbClr val="111827"/>
                </a:solidFill>
                <a:latin typeface="Aptos"/>
              </a:rPr>
              <a:t> </a:t>
            </a:r>
            <a:r>
              <a:rPr lang="en-US" sz="1900" err="1">
                <a:solidFill>
                  <a:srgbClr val="111827"/>
                </a:solidFill>
                <a:latin typeface="Aptos"/>
              </a:rPr>
              <a:t>noplūde</a:t>
            </a:r>
            <a:r>
              <a:rPr lang="en-US" sz="1900" dirty="0">
                <a:solidFill>
                  <a:srgbClr val="111827"/>
                </a:solidFill>
                <a:latin typeface="Aptos"/>
              </a:rPr>
              <a:t> var </a:t>
            </a:r>
            <a:r>
              <a:rPr lang="en-US" sz="1900" err="1">
                <a:solidFill>
                  <a:srgbClr val="111827"/>
                </a:solidFill>
                <a:latin typeface="Aptos"/>
              </a:rPr>
              <a:t>apdraudēt</a:t>
            </a:r>
            <a:r>
              <a:rPr lang="en-US" sz="1900" dirty="0">
                <a:solidFill>
                  <a:srgbClr val="111827"/>
                </a:solidFill>
                <a:latin typeface="Aptos"/>
              </a:rPr>
              <a:t> </a:t>
            </a:r>
            <a:r>
              <a:rPr lang="en-US" sz="1900" err="1">
                <a:solidFill>
                  <a:srgbClr val="111827"/>
                </a:solidFill>
                <a:latin typeface="Aptos"/>
              </a:rPr>
              <a:t>arī</a:t>
            </a:r>
            <a:r>
              <a:rPr lang="en-US" sz="1900" dirty="0">
                <a:solidFill>
                  <a:srgbClr val="111827"/>
                </a:solidFill>
                <a:latin typeface="Aptos"/>
              </a:rPr>
              <a:t> </a:t>
            </a:r>
            <a:r>
              <a:rPr lang="en-US" sz="1900" err="1">
                <a:solidFill>
                  <a:srgbClr val="111827"/>
                </a:solidFill>
                <a:latin typeface="Aptos"/>
              </a:rPr>
              <a:t>citus</a:t>
            </a:r>
            <a:r>
              <a:rPr lang="en-US" sz="1900" dirty="0">
                <a:solidFill>
                  <a:srgbClr val="111827"/>
                </a:solidFill>
                <a:latin typeface="Aptos"/>
              </a:rPr>
              <a:t> </a:t>
            </a:r>
            <a:r>
              <a:rPr lang="en-US" sz="1900" err="1">
                <a:solidFill>
                  <a:srgbClr val="111827"/>
                </a:solidFill>
                <a:latin typeface="Aptos"/>
              </a:rPr>
              <a:t>kontus</a:t>
            </a:r>
            <a:r>
              <a:rPr lang="en-US" sz="1900" dirty="0">
                <a:solidFill>
                  <a:srgbClr val="111827"/>
                </a:solidFill>
                <a:latin typeface="Aptos"/>
              </a:rPr>
              <a:t>.</a:t>
            </a:r>
            <a:endParaRPr lang="ru-RU" sz="1900">
              <a:solidFill>
                <a:srgbClr val="000000"/>
              </a:solidFill>
              <a:latin typeface="Aptos"/>
            </a:endParaRPr>
          </a:p>
          <a:p>
            <a:br>
              <a:rPr lang="en-US" sz="1900" dirty="0">
                <a:solidFill>
                  <a:srgbClr val="111827"/>
                </a:solidFill>
                <a:latin typeface="Aptos"/>
              </a:rPr>
            </a:br>
            <a:r>
              <a:rPr lang="en-US" sz="1900" err="1">
                <a:solidFill>
                  <a:srgbClr val="111827"/>
                </a:solidFill>
                <a:latin typeface="Aptos"/>
              </a:rPr>
              <a:t>Nepieciešams</a:t>
            </a:r>
            <a:r>
              <a:rPr lang="en-US" sz="1900" dirty="0">
                <a:solidFill>
                  <a:srgbClr val="111827"/>
                </a:solidFill>
                <a:latin typeface="Aptos"/>
              </a:rPr>
              <a:t> </a:t>
            </a:r>
            <a:r>
              <a:rPr lang="en-US" sz="1900" err="1">
                <a:solidFill>
                  <a:srgbClr val="111827"/>
                </a:solidFill>
                <a:latin typeface="Aptos"/>
              </a:rPr>
              <a:t>ātrs</a:t>
            </a:r>
            <a:r>
              <a:rPr lang="en-US" sz="1900" dirty="0">
                <a:solidFill>
                  <a:srgbClr val="111827"/>
                </a:solidFill>
                <a:latin typeface="Aptos"/>
              </a:rPr>
              <a:t> </a:t>
            </a:r>
            <a:r>
              <a:rPr lang="en-US" sz="1900" err="1">
                <a:solidFill>
                  <a:srgbClr val="111827"/>
                </a:solidFill>
                <a:latin typeface="Aptos"/>
              </a:rPr>
              <a:t>rīks</a:t>
            </a:r>
            <a:r>
              <a:rPr lang="en-US" sz="1900" dirty="0">
                <a:solidFill>
                  <a:srgbClr val="111827"/>
                </a:solidFill>
                <a:latin typeface="Aptos"/>
              </a:rPr>
              <a:t> </a:t>
            </a:r>
            <a:r>
              <a:rPr lang="en-US" sz="1900" err="1">
                <a:solidFill>
                  <a:srgbClr val="111827"/>
                </a:solidFill>
                <a:latin typeface="Aptos"/>
              </a:rPr>
              <a:t>unikālu</a:t>
            </a:r>
            <a:r>
              <a:rPr lang="en-US" sz="1900" dirty="0">
                <a:solidFill>
                  <a:srgbClr val="111827"/>
                </a:solidFill>
                <a:latin typeface="Aptos"/>
              </a:rPr>
              <a:t> </a:t>
            </a:r>
            <a:r>
              <a:rPr lang="en-US" sz="1900" err="1">
                <a:solidFill>
                  <a:srgbClr val="111827"/>
                </a:solidFill>
                <a:latin typeface="Aptos"/>
              </a:rPr>
              <a:t>paroļu</a:t>
            </a:r>
            <a:r>
              <a:rPr lang="en-US" sz="1900" dirty="0">
                <a:solidFill>
                  <a:srgbClr val="111827"/>
                </a:solidFill>
                <a:latin typeface="Aptos"/>
              </a:rPr>
              <a:t> </a:t>
            </a:r>
            <a:r>
              <a:rPr lang="en-US" sz="1900" err="1">
                <a:solidFill>
                  <a:srgbClr val="111827"/>
                </a:solidFill>
                <a:latin typeface="Aptos"/>
              </a:rPr>
              <a:t>izveidei</a:t>
            </a:r>
            <a:r>
              <a:rPr lang="en-US" sz="1900" dirty="0">
                <a:solidFill>
                  <a:srgbClr val="111827"/>
                </a:solidFill>
                <a:latin typeface="Aptos"/>
              </a:rPr>
              <a:t>.</a:t>
            </a:r>
            <a:endParaRPr lang="ru-RU" sz="1900">
              <a:latin typeface="Aptos"/>
            </a:endParaRPr>
          </a:p>
          <a:p>
            <a:pPr marL="342900" indent="-342900">
              <a:buAutoNum type="arabicPeriod"/>
            </a:pPr>
            <a:endParaRPr lang="en-US" sz="1900" dirty="0">
              <a:solidFill>
                <a:srgbClr val="111827"/>
              </a:solidFill>
              <a:latin typeface="Aptos"/>
            </a:endParaRPr>
          </a:p>
          <a:p>
            <a:pPr marL="285750" indent="-285750">
              <a:buAutoNum type="arabicPeriod"/>
            </a:pPr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224A2F0-0BA6-AB6F-CF54-B529F629A5B1}"/>
              </a:ext>
            </a:extLst>
          </p:cNvPr>
          <p:cNvSpPr/>
          <p:nvPr/>
        </p:nvSpPr>
        <p:spPr>
          <a:xfrm>
            <a:off x="614916" y="4376758"/>
            <a:ext cx="6083108" cy="1620879"/>
          </a:xfrm>
          <a:prstGeom prst="rect">
            <a:avLst/>
          </a:prstGeom>
          <a:solidFill>
            <a:srgbClr val="DFF7F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>
                <a:solidFill>
                  <a:srgbClr val="082047"/>
                </a:solidFill>
              </a:rPr>
              <a:t>Mērķis: izveidot vienkāršu lokālu programmu, kas</a:t>
            </a:r>
            <a:endParaRPr lang="ru-RU">
              <a:solidFill>
                <a:srgbClr val="000000"/>
              </a:solidFill>
            </a:endParaRPr>
          </a:p>
          <a:p>
            <a:r>
              <a:rPr lang="ru-RU">
                <a:solidFill>
                  <a:srgbClr val="082047"/>
                </a:solidFill>
              </a:rPr>
              <a:t>ģenerē paroli, parāda drošuma līmeni un pēc izvēles</a:t>
            </a:r>
            <a:endParaRPr lang="ru-RU">
              <a:solidFill>
                <a:srgbClr val="000000"/>
              </a:solidFill>
            </a:endParaRPr>
          </a:p>
          <a:p>
            <a:r>
              <a:rPr lang="ru-RU">
                <a:solidFill>
                  <a:srgbClr val="082047"/>
                </a:solidFill>
              </a:rPr>
              <a:t>saglabā ierakstu JSON failā.</a:t>
            </a:r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8A8291-BE6C-7E90-EC26-355B02B46BB3}"/>
              </a:ext>
            </a:extLst>
          </p:cNvPr>
          <p:cNvSpPr txBox="1"/>
          <p:nvPr/>
        </p:nvSpPr>
        <p:spPr>
          <a:xfrm>
            <a:off x="7759340" y="5160711"/>
            <a:ext cx="138012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3600" b="1">
                <a:solidFill>
                  <a:srgbClr val="16C8D9"/>
                </a:solidFill>
              </a:rPr>
              <a:t>8</a:t>
            </a:r>
          </a:p>
          <a:p>
            <a:pPr algn="ctr"/>
            <a:r>
              <a:rPr lang="ru-RU" sz="1200">
                <a:ea typeface="+mn-lt"/>
                <a:cs typeface="+mn-lt"/>
              </a:rPr>
              <a:t>prasības K1-K8</a:t>
            </a:r>
            <a:endParaRPr lang="ru-RU" sz="12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406E95-533A-C805-56B6-0424875FDD19}"/>
              </a:ext>
            </a:extLst>
          </p:cNvPr>
          <p:cNvSpPr txBox="1"/>
          <p:nvPr/>
        </p:nvSpPr>
        <p:spPr>
          <a:xfrm>
            <a:off x="9989311" y="5183123"/>
            <a:ext cx="138012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3600" b="1">
                <a:solidFill>
                  <a:srgbClr val="16C8D9"/>
                </a:solidFill>
                <a:ea typeface="+mn-lt"/>
                <a:cs typeface="+mn-lt"/>
              </a:rPr>
              <a:t>14</a:t>
            </a:r>
            <a:endParaRPr lang="ru-RU"/>
          </a:p>
          <a:p>
            <a:pPr algn="ctr"/>
            <a:r>
              <a:rPr lang="ru-RU" sz="1200">
                <a:solidFill>
                  <a:srgbClr val="000000"/>
                </a:solidFill>
                <a:ea typeface="+mn-lt"/>
                <a:cs typeface="+mn-lt"/>
              </a:rPr>
              <a:t>testi T1-T14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4792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457A2D-0AFD-8E65-B6B4-F529DF95E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4748078" cy="1154669"/>
          </a:xfrm>
        </p:spPr>
        <p:txBody>
          <a:bodyPr/>
          <a:lstStyle/>
          <a:p>
            <a:r>
              <a:rPr lang="ru-RU">
                <a:solidFill>
                  <a:srgbClr val="082047"/>
                </a:solidFill>
                <a:ea typeface="+mj-lt"/>
                <a:cs typeface="+mj-lt"/>
              </a:rPr>
              <a:t>Risinājuma pārskats</a:t>
            </a:r>
            <a:endParaRPr lang="ru-RU">
              <a:solidFill>
                <a:srgbClr val="082047"/>
              </a:solidFill>
            </a:endParaRPr>
          </a:p>
        </p:txBody>
      </p:sp>
      <p:pic>
        <p:nvPicPr>
          <p:cNvPr id="4" name="Объект 3" descr="/mnt/data/ppt_assets/spec_usecase_crop.png">
            <a:extLst>
              <a:ext uri="{FF2B5EF4-FFF2-40B4-BE49-F238E27FC236}">
                <a16:creationId xmlns:a16="http://schemas.microsoft.com/office/drawing/2014/main" id="{0EED5018-97B8-5EAC-8E17-454D692C9E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-204" b="270"/>
          <a:stretch>
            <a:fillRect/>
          </a:stretch>
        </p:blipFill>
        <p:spPr>
          <a:xfrm>
            <a:off x="613281" y="1707956"/>
            <a:ext cx="5497619" cy="41607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8192C9-CFD3-1771-56D4-194FC173574A}"/>
              </a:ext>
            </a:extLst>
          </p:cNvPr>
          <p:cNvSpPr txBox="1"/>
          <p:nvPr/>
        </p:nvSpPr>
        <p:spPr>
          <a:xfrm>
            <a:off x="608903" y="1218873"/>
            <a:ext cx="595986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>
                <a:ea typeface="+mn-lt"/>
                <a:cs typeface="+mn-lt"/>
              </a:rPr>
              <a:t>Programmas funkcijas pēc tehniskās specifikācijas</a:t>
            </a:r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AF1658-43FF-7CC9-27C0-4840FDB01EF8}"/>
              </a:ext>
            </a:extLst>
          </p:cNvPr>
          <p:cNvSpPr txBox="1"/>
          <p:nvPr/>
        </p:nvSpPr>
        <p:spPr>
          <a:xfrm>
            <a:off x="7217551" y="549359"/>
            <a:ext cx="415416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>
                <a:ea typeface="+mn-lt"/>
                <a:cs typeface="+mn-lt"/>
              </a:rPr>
              <a:t>K1-K8 funkcijas</a:t>
            </a:r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5ACA30-371C-8CBA-5542-50BCBEBDBAD7}"/>
              </a:ext>
            </a:extLst>
          </p:cNvPr>
          <p:cNvSpPr txBox="1"/>
          <p:nvPr/>
        </p:nvSpPr>
        <p:spPr>
          <a:xfrm>
            <a:off x="8068235" y="1221440"/>
            <a:ext cx="2980765" cy="57554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 err="1"/>
              <a:t>zvēlēties</a:t>
            </a:r>
            <a:r>
              <a:rPr lang="en-US" sz="1400" dirty="0"/>
              <a:t> paroles </a:t>
            </a:r>
            <a:r>
              <a:rPr lang="en-US" sz="1400" dirty="0" err="1"/>
              <a:t>garumu</a:t>
            </a:r>
            <a:r>
              <a:rPr lang="en-US" sz="1400" dirty="0"/>
              <a:t>​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ru-RU" sz="1400"/>
              <a:t>Izvēlēties rakstzīmju tipus </a:t>
            </a:r>
            <a:endParaRPr lang="en-US" sz="1400"/>
          </a:p>
          <a:p>
            <a:endParaRPr lang="ru-RU" sz="1400" dirty="0"/>
          </a:p>
          <a:p>
            <a:endParaRPr lang="en-US" sz="1400" dirty="0"/>
          </a:p>
          <a:p>
            <a:r>
              <a:rPr lang="en-US" sz="1400" dirty="0"/>
              <a:t>Ģenerēt </a:t>
            </a:r>
            <a:r>
              <a:rPr lang="en-US" sz="1400" dirty="0" err="1"/>
              <a:t>paroli</a:t>
            </a:r>
            <a:endParaRPr lang="en-US" dirty="0" err="1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>
                <a:ea typeface="+mn-lt"/>
                <a:cs typeface="+mn-lt"/>
              </a:rPr>
              <a:t>Novērtēt </a:t>
            </a:r>
            <a:r>
              <a:rPr lang="en-US" sz="1400" dirty="0" err="1">
                <a:ea typeface="+mn-lt"/>
                <a:cs typeface="+mn-lt"/>
              </a:rPr>
              <a:t>drošumu</a:t>
            </a:r>
            <a:endParaRPr lang="en-US" dirty="0" err="1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Kopēt </a:t>
            </a:r>
            <a:r>
              <a:rPr lang="en-US" sz="1400" dirty="0" err="1"/>
              <a:t>paroli</a:t>
            </a:r>
            <a:r>
              <a:rPr lang="en-US" sz="1400" dirty="0"/>
              <a:t> </a:t>
            </a:r>
            <a:endParaRPr lang="en-US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 err="1"/>
              <a:t>Saglabāt</a:t>
            </a:r>
            <a:r>
              <a:rPr lang="en-US" sz="1400" dirty="0"/>
              <a:t> JSON </a:t>
            </a:r>
            <a:r>
              <a:rPr lang="en-US" sz="1400" dirty="0" err="1"/>
              <a:t>failā</a:t>
            </a:r>
            <a:endParaRPr lang="en-US" dirty="0" err="1"/>
          </a:p>
          <a:p>
            <a:endParaRPr lang="en-US" sz="1400" dirty="0"/>
          </a:p>
          <a:p>
            <a:endParaRPr lang="en-US" sz="1400" dirty="0">
              <a:ea typeface="+mn-lt"/>
              <a:cs typeface="+mn-lt"/>
            </a:endParaRPr>
          </a:p>
          <a:p>
            <a:r>
              <a:rPr lang="en-US" sz="1400" dirty="0" err="1">
                <a:ea typeface="+mn-lt"/>
                <a:cs typeface="+mn-lt"/>
              </a:rPr>
              <a:t>Apskatīt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ierakstus</a:t>
            </a:r>
            <a:endParaRPr lang="en-US" sz="1400" dirty="0" err="1"/>
          </a:p>
          <a:p>
            <a:endParaRPr lang="en-US" sz="1400" dirty="0"/>
          </a:p>
          <a:p>
            <a:endParaRPr lang="en-US" sz="1400" dirty="0">
              <a:ea typeface="+mn-lt"/>
              <a:cs typeface="+mn-lt"/>
            </a:endParaRPr>
          </a:p>
          <a:p>
            <a:r>
              <a:rPr lang="en-US" sz="1400" dirty="0" err="1">
                <a:ea typeface="+mn-lt"/>
                <a:cs typeface="+mn-lt"/>
              </a:rPr>
              <a:t>Notīrīt</a:t>
            </a:r>
            <a:r>
              <a:rPr lang="en-US" sz="1400" dirty="0">
                <a:ea typeface="+mn-lt"/>
                <a:cs typeface="+mn-lt"/>
              </a:rPr>
              <a:t> JSON </a:t>
            </a:r>
            <a:r>
              <a:rPr lang="en-US" sz="1400" dirty="0" err="1">
                <a:ea typeface="+mn-lt"/>
                <a:cs typeface="+mn-lt"/>
              </a:rPr>
              <a:t>failu</a:t>
            </a:r>
            <a:endParaRPr lang="en-US" dirty="0" err="1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97B8D7-857E-5652-8137-79D598A4ABA9}"/>
              </a:ext>
            </a:extLst>
          </p:cNvPr>
          <p:cNvSpPr txBox="1"/>
          <p:nvPr/>
        </p:nvSpPr>
        <p:spPr>
          <a:xfrm>
            <a:off x="7213700" y="2345748"/>
            <a:ext cx="366956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400" dirty="0">
                <a:ea typeface="+mn-lt"/>
                <a:cs typeface="+mn-lt"/>
              </a:rPr>
              <a:t> </a:t>
            </a:r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FDE506B1-C12F-1CDC-38A4-FB34F5497B38}"/>
              </a:ext>
            </a:extLst>
          </p:cNvPr>
          <p:cNvSpPr/>
          <p:nvPr/>
        </p:nvSpPr>
        <p:spPr>
          <a:xfrm>
            <a:off x="7217812" y="1221927"/>
            <a:ext cx="567016" cy="309283"/>
          </a:xfrm>
          <a:prstGeom prst="roundRect">
            <a:avLst/>
          </a:prstGeom>
          <a:solidFill>
            <a:srgbClr val="0B62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/>
              <a:t>K1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C2D0C5B6-6780-5A48-55C4-AC499158FEBC}"/>
              </a:ext>
            </a:extLst>
          </p:cNvPr>
          <p:cNvSpPr/>
          <p:nvPr/>
        </p:nvSpPr>
        <p:spPr>
          <a:xfrm>
            <a:off x="7217812" y="1838250"/>
            <a:ext cx="567016" cy="309283"/>
          </a:xfrm>
          <a:prstGeom prst="roundRect">
            <a:avLst/>
          </a:prstGeom>
          <a:solidFill>
            <a:srgbClr val="0B62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sz="1400"/>
              <a:t>K2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E4A174AE-A15D-3331-A4BC-E5B2D5D506EC}"/>
              </a:ext>
            </a:extLst>
          </p:cNvPr>
          <p:cNvSpPr/>
          <p:nvPr/>
        </p:nvSpPr>
        <p:spPr>
          <a:xfrm>
            <a:off x="7217811" y="2499397"/>
            <a:ext cx="567016" cy="309283"/>
          </a:xfrm>
          <a:prstGeom prst="roundRect">
            <a:avLst/>
          </a:prstGeom>
          <a:solidFill>
            <a:srgbClr val="0B62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sz="1400"/>
              <a:t>K3</a:t>
            </a:r>
            <a:endParaRPr lang="ru-RU" sz="1400" dirty="0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45C7C738-DED2-FBF8-FEF5-2C2CEF6BE520}"/>
              </a:ext>
            </a:extLst>
          </p:cNvPr>
          <p:cNvSpPr/>
          <p:nvPr/>
        </p:nvSpPr>
        <p:spPr>
          <a:xfrm>
            <a:off x="7217811" y="3115721"/>
            <a:ext cx="567016" cy="309283"/>
          </a:xfrm>
          <a:prstGeom prst="roundRect">
            <a:avLst/>
          </a:prstGeom>
          <a:solidFill>
            <a:srgbClr val="0B62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sz="1400"/>
              <a:t>K4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19B85B31-B52B-476A-023F-203B5E103587}"/>
              </a:ext>
            </a:extLst>
          </p:cNvPr>
          <p:cNvSpPr/>
          <p:nvPr/>
        </p:nvSpPr>
        <p:spPr>
          <a:xfrm>
            <a:off x="7217810" y="3788073"/>
            <a:ext cx="567016" cy="309283"/>
          </a:xfrm>
          <a:prstGeom prst="roundRect">
            <a:avLst/>
          </a:prstGeom>
          <a:solidFill>
            <a:srgbClr val="12A3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sz="1400"/>
              <a:t>K5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C50A60B1-AD5D-43AB-53FB-AB7CAA66FC41}"/>
              </a:ext>
            </a:extLst>
          </p:cNvPr>
          <p:cNvSpPr/>
          <p:nvPr/>
        </p:nvSpPr>
        <p:spPr>
          <a:xfrm>
            <a:off x="7217811" y="4381985"/>
            <a:ext cx="567016" cy="309283"/>
          </a:xfrm>
          <a:prstGeom prst="roundRect">
            <a:avLst/>
          </a:prstGeom>
          <a:solidFill>
            <a:srgbClr val="12A3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sz="1400"/>
              <a:t>K6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C5331BB1-29DA-52B4-05CB-FD61479B222B}"/>
              </a:ext>
            </a:extLst>
          </p:cNvPr>
          <p:cNvSpPr/>
          <p:nvPr/>
        </p:nvSpPr>
        <p:spPr>
          <a:xfrm>
            <a:off x="7217810" y="4942279"/>
            <a:ext cx="567016" cy="309283"/>
          </a:xfrm>
          <a:prstGeom prst="roundRect">
            <a:avLst/>
          </a:prstGeom>
          <a:solidFill>
            <a:srgbClr val="12A3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sz="1400"/>
              <a:t>K7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5E121B7C-018B-BF30-F732-5D546D2293E8}"/>
              </a:ext>
            </a:extLst>
          </p:cNvPr>
          <p:cNvSpPr/>
          <p:nvPr/>
        </p:nvSpPr>
        <p:spPr>
          <a:xfrm>
            <a:off x="7217811" y="5558603"/>
            <a:ext cx="567016" cy="309283"/>
          </a:xfrm>
          <a:prstGeom prst="roundRect">
            <a:avLst/>
          </a:prstGeom>
          <a:solidFill>
            <a:srgbClr val="12A3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sz="1400"/>
              <a:t>K8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E2D5C1-B5EB-EAA5-CF18-E2EF5EDAB118}"/>
              </a:ext>
            </a:extLst>
          </p:cNvPr>
          <p:cNvSpPr txBox="1"/>
          <p:nvPr/>
        </p:nvSpPr>
        <p:spPr>
          <a:xfrm>
            <a:off x="784412" y="5871882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Lietotājs vienā logā var izveidot, nokopēt, saglabāt un pārskatīt paroles.</a:t>
            </a:r>
          </a:p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1558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4E99AD-CEF3-3349-DD43-0F9AC9C80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57287"/>
            <a:ext cx="5487666" cy="1098640"/>
          </a:xfrm>
        </p:spPr>
        <p:txBody>
          <a:bodyPr/>
          <a:lstStyle/>
          <a:p>
            <a:r>
              <a:rPr lang="ru-RU">
                <a:solidFill>
                  <a:srgbClr val="082047"/>
                </a:solidFill>
                <a:ea typeface="+mj-lt"/>
                <a:cs typeface="+mj-lt"/>
              </a:rPr>
              <a:t>Saskarne un lietošana</a:t>
            </a:r>
          </a:p>
        </p:txBody>
      </p:sp>
      <p:pic>
        <p:nvPicPr>
          <p:cNvPr id="8" name="Объект 7" descr="Изображение выглядит как текст, снимок экрана, Шрифт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BE9F6DD-FD67-72E8-2B2E-B36F5B0071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667" y="1569855"/>
            <a:ext cx="6464421" cy="459382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55982BD-09FA-074D-EA1A-B0B1FE876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820" y="1994647"/>
            <a:ext cx="5384712" cy="38100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510F028-4D5D-AFCE-995A-D7F74A01B3AE}"/>
              </a:ext>
            </a:extLst>
          </p:cNvPr>
          <p:cNvSpPr txBox="1"/>
          <p:nvPr/>
        </p:nvSpPr>
        <p:spPr>
          <a:xfrm>
            <a:off x="6409765" y="1344706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af-ZA"/>
              <a:t>Darbojošās</a:t>
            </a:r>
            <a:r>
              <a:rPr lang="af-ZA" dirty="0"/>
              <a:t> </a:t>
            </a:r>
            <a:r>
              <a:rPr lang="af-ZA"/>
              <a:t>programmas logs:</a:t>
            </a:r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B73D23-7B2F-2E84-FE27-9F5C80A9FE55}"/>
              </a:ext>
            </a:extLst>
          </p:cNvPr>
          <p:cNvSpPr txBox="1"/>
          <p:nvPr/>
        </p:nvSpPr>
        <p:spPr>
          <a:xfrm>
            <a:off x="7660341" y="254149"/>
            <a:ext cx="412376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No </a:t>
            </a:r>
            <a:r>
              <a:rPr lang="en-US" dirty="0" err="1"/>
              <a:t>maketa</a:t>
            </a:r>
            <a:r>
              <a:rPr lang="en-US" dirty="0"/>
              <a:t> </a:t>
            </a:r>
            <a:r>
              <a:rPr lang="en-US" dirty="0" err="1"/>
              <a:t>līdz</a:t>
            </a:r>
            <a:r>
              <a:rPr lang="en-US" dirty="0"/>
              <a:t> Python </a:t>
            </a:r>
            <a:r>
              <a:rPr lang="en-US" dirty="0" err="1"/>
              <a:t>programmai</a:t>
            </a:r>
          </a:p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BBEDDC-C7C4-3F7F-CB62-87D110657604}"/>
              </a:ext>
            </a:extLst>
          </p:cNvPr>
          <p:cNvSpPr txBox="1"/>
          <p:nvPr/>
        </p:nvSpPr>
        <p:spPr>
          <a:xfrm>
            <a:off x="611841" y="6159649"/>
            <a:ext cx="1535205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Lietošana</a:t>
            </a:r>
            <a:r>
              <a:rPr lang="en-US" dirty="0"/>
              <a:t>: </a:t>
            </a:r>
            <a:r>
              <a:rPr lang="en-US" dirty="0" err="1"/>
              <a:t>ievada</a:t>
            </a:r>
            <a:r>
              <a:rPr lang="en-US" dirty="0"/>
              <a:t> </a:t>
            </a:r>
            <a:r>
              <a:rPr lang="en-US" dirty="0" err="1"/>
              <a:t>garumu</a:t>
            </a:r>
            <a:r>
              <a:rPr lang="en-US" dirty="0"/>
              <a:t> -&gt; </a:t>
            </a:r>
            <a:r>
              <a:rPr lang="en-US" dirty="0" err="1"/>
              <a:t>izvēlas</a:t>
            </a:r>
            <a:r>
              <a:rPr lang="en-US" dirty="0"/>
              <a:t> </a:t>
            </a:r>
            <a:r>
              <a:rPr lang="en-US" dirty="0" err="1"/>
              <a:t>simbolus</a:t>
            </a:r>
            <a:r>
              <a:rPr lang="en-US" dirty="0"/>
              <a:t> -&gt; </a:t>
            </a:r>
            <a:r>
              <a:rPr lang="en-US" dirty="0" err="1"/>
              <a:t>ģenerē</a:t>
            </a:r>
            <a:r>
              <a:rPr lang="en-US" dirty="0"/>
              <a:t> </a:t>
            </a:r>
            <a:r>
              <a:rPr lang="en-US" dirty="0" err="1"/>
              <a:t>paroli</a:t>
            </a:r>
            <a:r>
              <a:rPr lang="en-US" dirty="0"/>
              <a:t> -&gt; </a:t>
            </a:r>
            <a:r>
              <a:rPr lang="en-US" dirty="0" err="1"/>
              <a:t>kopē</a:t>
            </a:r>
            <a:r>
              <a:rPr lang="en-US" dirty="0"/>
              <a:t> </a:t>
            </a:r>
            <a:r>
              <a:rPr lang="en-US" dirty="0" err="1"/>
              <a:t>vai</a:t>
            </a:r>
            <a:r>
              <a:rPr lang="en-US" dirty="0"/>
              <a:t> </a:t>
            </a:r>
            <a:r>
              <a:rPr lang="en-US" dirty="0" err="1"/>
              <a:t>saglabā</a:t>
            </a:r>
            <a:r>
              <a:rPr lang="en-US" dirty="0"/>
              <a:t> JSON </a:t>
            </a:r>
            <a:r>
              <a:rPr lang="en-US" dirty="0" err="1"/>
              <a:t>failā</a:t>
            </a:r>
            <a:r>
              <a:rPr lang="en-US" dirty="0"/>
              <a:t>.​</a:t>
            </a:r>
          </a:p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4548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EB8175-6ADE-8F2B-8E96-336E75D3B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1258"/>
            <a:ext cx="10653578" cy="773669"/>
          </a:xfrm>
        </p:spPr>
        <p:txBody>
          <a:bodyPr/>
          <a:lstStyle/>
          <a:p>
            <a:r>
              <a:rPr lang="ru-RU">
                <a:solidFill>
                  <a:srgbClr val="082047"/>
                </a:solidFill>
                <a:ea typeface="+mj-lt"/>
                <a:cs typeface="+mj-lt"/>
              </a:rPr>
              <a:t>Programmas loģika</a:t>
            </a:r>
            <a:endParaRPr lang="ru-RU">
              <a:solidFill>
                <a:srgbClr val="082047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40F842-20DF-09A5-2843-34BF42973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3037826"/>
            <a:ext cx="3930050" cy="77262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>
                <a:ea typeface="+mn-lt"/>
                <a:cs typeface="+mn-lt"/>
              </a:rPr>
              <a:t>Svarīgākie tehniskie risinājumi</a:t>
            </a:r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22DCA1-0F0F-345B-116E-D7041141859A}"/>
              </a:ext>
            </a:extLst>
          </p:cNvPr>
          <p:cNvSpPr txBox="1"/>
          <p:nvPr/>
        </p:nvSpPr>
        <p:spPr>
          <a:xfrm>
            <a:off x="616324" y="974912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Ģenerēšana, validācija un drošuma aprēķins</a:t>
            </a:r>
          </a:p>
          <a:p>
            <a:pPr algn="ctr"/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6AF9BAC2-6F83-7C3D-EE7E-EE6A0DD41A22}"/>
              </a:ext>
            </a:extLst>
          </p:cNvPr>
          <p:cNvSpPr/>
          <p:nvPr/>
        </p:nvSpPr>
        <p:spPr>
          <a:xfrm>
            <a:off x="796592" y="1717488"/>
            <a:ext cx="1600941" cy="814272"/>
          </a:xfrm>
          <a:prstGeom prst="roundRect">
            <a:avLst/>
          </a:prstGeom>
          <a:solidFill>
            <a:srgbClr val="DFF7F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082047"/>
                </a:solidFill>
                <a:ea typeface="+mn-lt"/>
                <a:cs typeface="+mn-lt"/>
              </a:rPr>
              <a:t>Ievade</a:t>
            </a:r>
          </a:p>
          <a:p>
            <a:pPr algn="ctr"/>
            <a:r>
              <a:rPr lang="ru-RU" sz="1100">
                <a:solidFill>
                  <a:srgbClr val="082047"/>
                </a:solidFill>
                <a:ea typeface="+mn-lt"/>
                <a:cs typeface="+mn-lt"/>
              </a:rPr>
              <a:t>Garums</a:t>
            </a:r>
            <a:endParaRPr lang="ru-RU" sz="1100">
              <a:solidFill>
                <a:srgbClr val="FFFFFF"/>
              </a:solidFill>
              <a:ea typeface="+mn-lt"/>
              <a:cs typeface="+mn-lt"/>
            </a:endParaRPr>
          </a:p>
          <a:p>
            <a:pPr algn="ctr"/>
            <a:r>
              <a:rPr lang="ru-RU" sz="1100" dirty="0">
                <a:solidFill>
                  <a:srgbClr val="082047"/>
                </a:solidFill>
                <a:ea typeface="+mn-lt"/>
                <a:cs typeface="+mn-lt"/>
              </a:rPr>
              <a:t> </a:t>
            </a:r>
            <a:r>
              <a:rPr lang="ru-RU" sz="1100">
                <a:solidFill>
                  <a:srgbClr val="082047"/>
                </a:solidFill>
                <a:ea typeface="+mn-lt"/>
                <a:cs typeface="+mn-lt"/>
              </a:rPr>
              <a:t>8-64 </a:t>
            </a:r>
            <a:endParaRPr lang="ru-RU" sz="1100"/>
          </a:p>
          <a:p>
            <a:pPr algn="ctr"/>
            <a:r>
              <a:rPr lang="ru-RU" sz="1100">
                <a:solidFill>
                  <a:srgbClr val="082047"/>
                </a:solidFill>
                <a:ea typeface="+mn-lt"/>
                <a:cs typeface="+mn-lt"/>
              </a:rPr>
              <a:t>simbolu tipi</a:t>
            </a:r>
            <a:endParaRPr lang="ru-RU" sz="110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76A2139-41F8-FCE1-47A4-14D19A0331CB}"/>
              </a:ext>
            </a:extLst>
          </p:cNvPr>
          <p:cNvSpPr/>
          <p:nvPr/>
        </p:nvSpPr>
        <p:spPr>
          <a:xfrm>
            <a:off x="3665297" y="1717487"/>
            <a:ext cx="1600941" cy="814272"/>
          </a:xfrm>
          <a:prstGeom prst="roundRect">
            <a:avLst/>
          </a:prstGeom>
          <a:solidFill>
            <a:srgbClr val="DFF7F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sz="1600" b="1">
                <a:solidFill>
                  <a:srgbClr val="082047"/>
                </a:solidFill>
                <a:ea typeface="+mn-lt"/>
                <a:cs typeface="+mn-lt"/>
              </a:rPr>
              <a:t>Simbolu kopa</a:t>
            </a:r>
          </a:p>
          <a:p>
            <a:pPr algn="ctr"/>
            <a:r>
              <a:rPr lang="ru-RU" sz="1100">
                <a:solidFill>
                  <a:srgbClr val="082047"/>
                </a:solidFill>
                <a:ea typeface="+mn-lt"/>
                <a:cs typeface="+mn-lt"/>
              </a:rPr>
              <a:t>A-Z, a–z, 0–9 </a:t>
            </a:r>
            <a:endParaRPr lang="ru-RU" sz="1100"/>
          </a:p>
          <a:p>
            <a:pPr algn="ctr"/>
            <a:r>
              <a:rPr lang="ru-RU" sz="1100">
                <a:solidFill>
                  <a:srgbClr val="082047"/>
                </a:solidFill>
                <a:ea typeface="+mn-lt"/>
                <a:cs typeface="+mn-lt"/>
              </a:rPr>
              <a:t>!@#%&amp;*</a:t>
            </a:r>
            <a:endParaRPr lang="ru-RU" sz="1100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4FFD6E9E-64C4-C033-27C3-9993F54B8FE8}"/>
              </a:ext>
            </a:extLst>
          </p:cNvPr>
          <p:cNvSpPr/>
          <p:nvPr/>
        </p:nvSpPr>
        <p:spPr>
          <a:xfrm>
            <a:off x="6534003" y="1717487"/>
            <a:ext cx="1600941" cy="814272"/>
          </a:xfrm>
          <a:prstGeom prst="roundRect">
            <a:avLst/>
          </a:prstGeom>
          <a:solidFill>
            <a:srgbClr val="DFF7F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sz="1600" b="1">
                <a:solidFill>
                  <a:srgbClr val="082047"/>
                </a:solidFill>
                <a:ea typeface="+mn-lt"/>
                <a:cs typeface="+mn-lt"/>
              </a:rPr>
              <a:t>Ģenerēšana</a:t>
            </a:r>
          </a:p>
          <a:p>
            <a:pPr algn="ctr"/>
            <a:r>
              <a:rPr lang="ru-RU" sz="1100">
                <a:solidFill>
                  <a:srgbClr val="082047"/>
                </a:solidFill>
                <a:ea typeface="+mn-lt"/>
                <a:cs typeface="+mn-lt"/>
              </a:rPr>
              <a:t>secrets.choice </a:t>
            </a:r>
            <a:endParaRPr lang="ru-RU" sz="1100"/>
          </a:p>
          <a:p>
            <a:pPr algn="ctr"/>
            <a:r>
              <a:rPr lang="ru-RU" sz="1100">
                <a:solidFill>
                  <a:srgbClr val="082047"/>
                </a:solidFill>
                <a:ea typeface="+mn-lt"/>
                <a:cs typeface="+mn-lt"/>
              </a:rPr>
              <a:t>nejauši simboli</a:t>
            </a:r>
            <a:endParaRPr lang="ru-RU" sz="1100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8CB05CD9-E5C8-640A-DCE4-8C8216EAFEF5}"/>
              </a:ext>
            </a:extLst>
          </p:cNvPr>
          <p:cNvSpPr/>
          <p:nvPr/>
        </p:nvSpPr>
        <p:spPr>
          <a:xfrm>
            <a:off x="9402709" y="1717488"/>
            <a:ext cx="1600941" cy="814272"/>
          </a:xfrm>
          <a:prstGeom prst="roundRect">
            <a:avLst/>
          </a:prstGeom>
          <a:solidFill>
            <a:srgbClr val="DFF7F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sz="1600" b="1">
                <a:solidFill>
                  <a:srgbClr val="082047"/>
                </a:solidFill>
                <a:ea typeface="+mn-lt"/>
                <a:cs typeface="+mn-lt"/>
              </a:rPr>
              <a:t>Drošums</a:t>
            </a:r>
          </a:p>
          <a:p>
            <a:pPr algn="ctr"/>
            <a:r>
              <a:rPr lang="ru-RU" sz="1100">
                <a:solidFill>
                  <a:srgbClr val="082047"/>
                </a:solidFill>
                <a:ea typeface="+mn-lt"/>
                <a:cs typeface="+mn-lt"/>
              </a:rPr>
              <a:t>vāja -&gt; ļoti droša </a:t>
            </a:r>
            <a:endParaRPr lang="ru-RU" sz="11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633791-C91E-B043-CC71-8987D6B66FEB}"/>
              </a:ext>
            </a:extLst>
          </p:cNvPr>
          <p:cNvSpPr txBox="1"/>
          <p:nvPr/>
        </p:nvSpPr>
        <p:spPr>
          <a:xfrm>
            <a:off x="470648" y="3608294"/>
            <a:ext cx="4067736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dirty="0" err="1"/>
              <a:t>Ievade</a:t>
            </a:r>
            <a:r>
              <a:rPr lang="en-US" sz="1600" dirty="0"/>
              <a:t> </a:t>
            </a:r>
            <a:r>
              <a:rPr lang="en-US" sz="1600" dirty="0" err="1"/>
              <a:t>tiek</a:t>
            </a:r>
            <a:r>
              <a:rPr lang="en-US" sz="1600" dirty="0"/>
              <a:t> </a:t>
            </a:r>
            <a:r>
              <a:rPr lang="en-US" sz="1600" dirty="0" err="1"/>
              <a:t>pārbaudīta</a:t>
            </a:r>
            <a:r>
              <a:rPr lang="en-US" sz="1600" dirty="0"/>
              <a:t> </a:t>
            </a:r>
            <a:r>
              <a:rPr lang="en-US" sz="1600" dirty="0" err="1"/>
              <a:t>pirms</a:t>
            </a:r>
            <a:r>
              <a:rPr lang="en-US" sz="1600" dirty="0"/>
              <a:t> paroles </a:t>
            </a:r>
            <a:r>
              <a:rPr lang="en-US" sz="1600" dirty="0" err="1"/>
              <a:t>ģenerēšanas</a:t>
            </a:r>
            <a:r>
              <a:rPr lang="en-US" sz="1600" dirty="0"/>
              <a:t>.​</a:t>
            </a:r>
            <a:endParaRPr lang="ru-RU" sz="1600" dirty="0"/>
          </a:p>
          <a:p>
            <a:endParaRPr lang="en-US" sz="1600" dirty="0"/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 </a:t>
            </a:r>
            <a:r>
              <a:rPr lang="en-US" sz="1600" dirty="0" err="1"/>
              <a:t>Parolē</a:t>
            </a:r>
            <a:r>
              <a:rPr lang="en-US" sz="1600" dirty="0"/>
              <a:t> </a:t>
            </a:r>
            <a:r>
              <a:rPr lang="en-US" sz="1600" dirty="0" err="1"/>
              <a:t>tiek</a:t>
            </a:r>
            <a:r>
              <a:rPr lang="en-US" sz="1600" dirty="0"/>
              <a:t> </a:t>
            </a:r>
            <a:r>
              <a:rPr lang="en-US" sz="1600" dirty="0" err="1"/>
              <a:t>iekļauts</a:t>
            </a:r>
            <a:r>
              <a:rPr lang="en-US" sz="1600" dirty="0"/>
              <a:t> </a:t>
            </a:r>
            <a:r>
              <a:rPr lang="en-US" sz="1600" dirty="0" err="1"/>
              <a:t>vismaz</a:t>
            </a:r>
            <a:r>
              <a:rPr lang="en-US" sz="1600" dirty="0"/>
              <a:t> </a:t>
            </a:r>
            <a:r>
              <a:rPr lang="en-US" sz="1600" dirty="0" err="1"/>
              <a:t>viens</a:t>
            </a:r>
            <a:r>
              <a:rPr lang="en-US" sz="1600" dirty="0"/>
              <a:t> </a:t>
            </a:r>
            <a:r>
              <a:rPr lang="en-US" sz="1600" dirty="0" err="1"/>
              <a:t>simbols</a:t>
            </a:r>
            <a:r>
              <a:rPr lang="en-US" sz="1600" dirty="0"/>
              <a:t> no </a:t>
            </a:r>
            <a:r>
              <a:rPr lang="en-US" sz="1600" dirty="0" err="1"/>
              <a:t>katra</a:t>
            </a:r>
            <a:r>
              <a:rPr lang="en-US" sz="1600" dirty="0"/>
              <a:t> </a:t>
            </a:r>
            <a:r>
              <a:rPr lang="en-US" sz="1600" dirty="0" err="1"/>
              <a:t>izvēlētā</a:t>
            </a:r>
            <a:r>
              <a:rPr lang="en-US" sz="1600" dirty="0"/>
              <a:t> </a:t>
            </a:r>
            <a:r>
              <a:rPr lang="en-US" sz="1600" dirty="0" err="1"/>
              <a:t>tipa</a:t>
            </a:r>
            <a:r>
              <a:rPr lang="en-US" sz="1600" dirty="0"/>
              <a:t>.​</a:t>
            </a:r>
            <a:endParaRPr lang="ru-RU" sz="1600" dirty="0"/>
          </a:p>
          <a:p>
            <a:endParaRPr lang="en-US" sz="1600" dirty="0"/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 Drošuma </a:t>
            </a:r>
            <a:r>
              <a:rPr lang="en-US" sz="1600" dirty="0" err="1"/>
              <a:t>līmenis</a:t>
            </a:r>
            <a:r>
              <a:rPr lang="en-US" sz="1600" dirty="0"/>
              <a:t> </a:t>
            </a:r>
            <a:r>
              <a:rPr lang="en-US" sz="1600" dirty="0" err="1"/>
              <a:t>atkarīgs</a:t>
            </a:r>
            <a:r>
              <a:rPr lang="en-US" sz="1600" dirty="0"/>
              <a:t> no </a:t>
            </a:r>
            <a:r>
              <a:rPr lang="en-US" sz="1600" dirty="0" err="1"/>
              <a:t>garuma</a:t>
            </a:r>
            <a:r>
              <a:rPr lang="en-US" sz="1600" dirty="0"/>
              <a:t> un </a:t>
            </a:r>
            <a:r>
              <a:rPr lang="en-US" sz="1600" dirty="0" err="1"/>
              <a:t>simbolu</a:t>
            </a:r>
            <a:r>
              <a:rPr lang="en-US" sz="1600" dirty="0"/>
              <a:t> </a:t>
            </a:r>
            <a:r>
              <a:rPr lang="en-US" sz="1600" dirty="0" err="1"/>
              <a:t>daudzveidības</a:t>
            </a:r>
            <a:r>
              <a:rPr lang="en-US" sz="1600" dirty="0"/>
              <a:t>.​ </a:t>
            </a:r>
            <a:endParaRPr lang="ru-RU" sz="1600" dirty="0"/>
          </a:p>
          <a:p>
            <a:endParaRPr lang="en-US" sz="1600" dirty="0"/>
          </a:p>
          <a:p>
            <a:pPr marL="285750" indent="-285750">
              <a:buFont typeface="Arial"/>
              <a:buChar char="•"/>
            </a:pPr>
            <a:r>
              <a:rPr lang="en-US" sz="1600" dirty="0" err="1"/>
              <a:t>Programma</a:t>
            </a:r>
            <a:r>
              <a:rPr lang="en-US" sz="1600" dirty="0"/>
              <a:t> </a:t>
            </a:r>
            <a:r>
              <a:rPr lang="en-US" sz="1600" dirty="0" err="1"/>
              <a:t>strādā</a:t>
            </a:r>
            <a:r>
              <a:rPr lang="en-US" sz="1600" dirty="0"/>
              <a:t> </a:t>
            </a:r>
            <a:r>
              <a:rPr lang="en-US" sz="1600" dirty="0" err="1"/>
              <a:t>lokāli</a:t>
            </a:r>
            <a:r>
              <a:rPr lang="en-US" sz="1600" dirty="0"/>
              <a:t> un </a:t>
            </a:r>
            <a:r>
              <a:rPr lang="en-US" sz="1600" dirty="0" err="1"/>
              <a:t>nesūta</a:t>
            </a:r>
            <a:r>
              <a:rPr lang="en-US" sz="1600" dirty="0"/>
              <a:t> paroles </a:t>
            </a:r>
            <a:r>
              <a:rPr lang="en-US" sz="1600" dirty="0" err="1"/>
              <a:t>uz</a:t>
            </a:r>
            <a:r>
              <a:rPr lang="en-US" sz="1600" dirty="0"/>
              <a:t> </a:t>
            </a:r>
            <a:r>
              <a:rPr lang="en-US" sz="1600" dirty="0" err="1"/>
              <a:t>serveri</a:t>
            </a:r>
            <a:r>
              <a:rPr lang="en-US" sz="1600" dirty="0"/>
              <a:t>.</a:t>
            </a:r>
            <a:endParaRPr lang="ru-RU" sz="1600" dirty="0"/>
          </a:p>
          <a:p>
            <a:pPr algn="ctr"/>
            <a:endParaRPr lang="ru-RU" sz="1600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CD5A07D-2380-81DC-3344-B871232306D2}"/>
              </a:ext>
            </a:extLst>
          </p:cNvPr>
          <p:cNvSpPr/>
          <p:nvPr/>
        </p:nvSpPr>
        <p:spPr>
          <a:xfrm>
            <a:off x="6097177" y="3425298"/>
            <a:ext cx="5321500" cy="2102394"/>
          </a:xfrm>
          <a:prstGeom prst="rect">
            <a:avLst/>
          </a:prstGeom>
          <a:solidFill>
            <a:srgbClr val="071A3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ru-RU" sz="1400">
                <a:solidFill>
                  <a:srgbClr val="FFFFFF"/>
                </a:solidFill>
                <a:ea typeface="+mn-lt"/>
                <a:cs typeface="+mn-lt"/>
              </a:rPr>
              <a:t>def evaluate_strength(parole, atlasito_veidu_skaits):</a:t>
            </a:r>
            <a:endParaRPr lang="ru-RU">
              <a:ea typeface="+mn-lt"/>
              <a:cs typeface="+mn-lt"/>
            </a:endParaRPr>
          </a:p>
          <a:p>
            <a:r>
              <a:rPr lang="ru-RU" sz="1400">
                <a:solidFill>
                  <a:srgbClr val="FFFFFF"/>
                </a:solidFill>
                <a:ea typeface="+mn-lt"/>
                <a:cs typeface="+mn-lt"/>
              </a:rPr>
              <a:t>        garums = len(parole)</a:t>
            </a:r>
            <a:endParaRPr lang="ru-RU">
              <a:ea typeface="+mn-lt"/>
              <a:cs typeface="+mn-lt"/>
            </a:endParaRPr>
          </a:p>
          <a:p>
            <a:r>
              <a:rPr lang="ru-RU" sz="1400">
                <a:solidFill>
                  <a:srgbClr val="FFFFFF"/>
                </a:solidFill>
                <a:ea typeface="+mn-lt"/>
                <a:cs typeface="+mn-lt"/>
              </a:rPr>
              <a:t>        if garums &gt;= 16 and atlasito_veidu_skaits == 4:</a:t>
            </a:r>
            <a:endParaRPr lang="ru-RU">
              <a:ea typeface="+mn-lt"/>
              <a:cs typeface="+mn-lt"/>
            </a:endParaRPr>
          </a:p>
          <a:p>
            <a:r>
              <a:rPr lang="ru-RU" sz="1400">
                <a:solidFill>
                  <a:srgbClr val="FFFFFF"/>
                </a:solidFill>
                <a:ea typeface="+mn-lt"/>
                <a:cs typeface="+mn-lt"/>
              </a:rPr>
              <a:t>            return "Ļoti droša"</a:t>
            </a:r>
            <a:endParaRPr lang="ru-RU"/>
          </a:p>
          <a:p>
            <a:r>
              <a:rPr lang="ru-RU" sz="1400">
                <a:solidFill>
                  <a:srgbClr val="FFFFFF"/>
                </a:solidFill>
                <a:ea typeface="+mn-lt"/>
                <a:cs typeface="+mn-lt"/>
              </a:rPr>
              <a:t>        if garums &gt;= 12 and atlasito_veidu_skaits &gt;= 3:</a:t>
            </a:r>
            <a:endParaRPr lang="ru-RU"/>
          </a:p>
          <a:p>
            <a:r>
              <a:rPr lang="ru-RU" sz="1400">
                <a:solidFill>
                  <a:srgbClr val="FFFFFF"/>
                </a:solidFill>
                <a:ea typeface="+mn-lt"/>
                <a:cs typeface="+mn-lt"/>
              </a:rPr>
              <a:t>            return "Droša"</a:t>
            </a:r>
            <a:endParaRPr lang="ru-RU"/>
          </a:p>
          <a:p>
            <a:r>
              <a:rPr lang="ru-RU" sz="1400">
                <a:solidFill>
                  <a:srgbClr val="FFFFFF"/>
                </a:solidFill>
                <a:ea typeface="+mn-lt"/>
                <a:cs typeface="+mn-lt"/>
              </a:rPr>
              <a:t>        if garums &gt;= 8 and atlasito_veidu_skaits &gt;= 2:</a:t>
            </a:r>
            <a:endParaRPr lang="ru-RU"/>
          </a:p>
          <a:p>
            <a:r>
              <a:rPr lang="ru-RU" sz="1400">
                <a:solidFill>
                  <a:srgbClr val="FFFFFF"/>
                </a:solidFill>
                <a:ea typeface="+mn-lt"/>
                <a:cs typeface="+mn-lt"/>
              </a:rPr>
              <a:t>            return "Vidēja"</a:t>
            </a:r>
            <a:endParaRPr lang="ru-RU"/>
          </a:p>
          <a:p>
            <a:r>
              <a:rPr lang="ru-RU" sz="1400">
                <a:solidFill>
                  <a:srgbClr val="FFFFFF"/>
                </a:solidFill>
                <a:ea typeface="+mn-lt"/>
                <a:cs typeface="+mn-lt"/>
              </a:rPr>
              <a:t>        return "Vāja"</a:t>
            </a:r>
            <a:endParaRPr lang="ru-RU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37069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F3BA36-C1F2-C523-3DDC-E7C04A1B8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solidFill>
                  <a:srgbClr val="082047"/>
                </a:solidFill>
                <a:ea typeface="+mj-lt"/>
                <a:cs typeface="+mj-lt"/>
              </a:rPr>
              <a:t>JSON datu glabāšana</a:t>
            </a:r>
            <a:endParaRPr lang="ru-RU">
              <a:solidFill>
                <a:srgbClr val="082047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5A2189-28CC-31AA-559D-5B2B00D36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94825"/>
            <a:ext cx="6630667" cy="17363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sz="2400" b="1">
                <a:solidFill>
                  <a:srgbClr val="082047"/>
                </a:solidFill>
                <a:ea typeface="+mn-lt"/>
                <a:cs typeface="+mn-lt"/>
              </a:rPr>
              <a:t>Passwords.json</a:t>
            </a:r>
          </a:p>
          <a:p>
            <a:pPr>
              <a:buNone/>
            </a:pPr>
            <a:r>
              <a:rPr lang="ru-RU" sz="1700">
                <a:ea typeface="+mn-lt"/>
                <a:cs typeface="+mn-lt"/>
              </a:rPr>
              <a:t>Fails satur ierakstu masīvu. Katram ierakstam ir ID,</a:t>
            </a:r>
          </a:p>
          <a:p>
            <a:pPr>
              <a:buNone/>
            </a:pPr>
            <a:r>
              <a:rPr lang="ru-RU" sz="1700">
                <a:ea typeface="+mn-lt"/>
                <a:cs typeface="+mn-lt"/>
              </a:rPr>
              <a:t>parole, garums, drošuma līmenis un izveides datums.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42DEAA0-1826-D27C-26D9-9C3DC88802B7}"/>
              </a:ext>
            </a:extLst>
          </p:cNvPr>
          <p:cNvSpPr/>
          <p:nvPr/>
        </p:nvSpPr>
        <p:spPr>
          <a:xfrm>
            <a:off x="617501" y="3974386"/>
            <a:ext cx="5321500" cy="2102394"/>
          </a:xfrm>
          <a:prstGeom prst="rect">
            <a:avLst/>
          </a:prstGeom>
          <a:solidFill>
            <a:srgbClr val="071A3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ru-RU" sz="1400">
                <a:solidFill>
                  <a:srgbClr val="FFFFFF"/>
                </a:solidFill>
                <a:ea typeface="+mn-lt"/>
                <a:cs typeface="+mn-lt"/>
              </a:rPr>
              <a:t>[</a:t>
            </a:r>
            <a:endParaRPr lang="ru-RU"/>
          </a:p>
          <a:p>
            <a:r>
              <a:rPr lang="ru-RU" sz="1400">
                <a:solidFill>
                  <a:srgbClr val="FFFFFF"/>
                </a:solidFill>
                <a:ea typeface="+mn-lt"/>
                <a:cs typeface="+mn-lt"/>
              </a:rPr>
              <a:t>    {</a:t>
            </a:r>
            <a:endParaRPr lang="ru-RU"/>
          </a:p>
          <a:p>
            <a:r>
              <a:rPr lang="ru-RU" sz="1400">
                <a:solidFill>
                  <a:srgbClr val="FFFFFF"/>
                </a:solidFill>
                <a:ea typeface="+mn-lt"/>
                <a:cs typeface="+mn-lt"/>
              </a:rPr>
              <a:t>        "id": 1,</a:t>
            </a:r>
            <a:endParaRPr lang="ru-RU">
              <a:ea typeface="+mn-lt"/>
              <a:cs typeface="+mn-lt"/>
            </a:endParaRPr>
          </a:p>
          <a:p>
            <a:r>
              <a:rPr lang="ru-RU" sz="1400">
                <a:solidFill>
                  <a:srgbClr val="FFFFFF"/>
                </a:solidFill>
                <a:ea typeface="+mn-lt"/>
                <a:cs typeface="+mn-lt"/>
              </a:rPr>
              <a:t>        "password": "6sNt+iH21NP-OPJx",</a:t>
            </a:r>
            <a:endParaRPr lang="ru-RU"/>
          </a:p>
          <a:p>
            <a:r>
              <a:rPr lang="ru-RU" sz="1400">
                <a:solidFill>
                  <a:srgbClr val="FFFFFF"/>
                </a:solidFill>
                <a:ea typeface="+mn-lt"/>
                <a:cs typeface="+mn-lt"/>
              </a:rPr>
              <a:t>        "length": 16,</a:t>
            </a:r>
            <a:endParaRPr lang="ru-RU"/>
          </a:p>
          <a:p>
            <a:r>
              <a:rPr lang="ru-RU" sz="1400">
                <a:solidFill>
                  <a:srgbClr val="FFFFFF"/>
                </a:solidFill>
                <a:ea typeface="+mn-lt"/>
                <a:cs typeface="+mn-lt"/>
              </a:rPr>
              <a:t>        "strength": "Ļoti droša",</a:t>
            </a:r>
            <a:endParaRPr lang="ru-RU"/>
          </a:p>
          <a:p>
            <a:r>
              <a:rPr lang="ru-RU" sz="1400">
                <a:solidFill>
                  <a:srgbClr val="FFFFFF"/>
                </a:solidFill>
                <a:ea typeface="+mn-lt"/>
                <a:cs typeface="+mn-lt"/>
              </a:rPr>
              <a:t>        "createdAt": "2026-06-11T18:41:46"</a:t>
            </a:r>
            <a:endParaRPr lang="ru-RU">
              <a:ea typeface="+mn-lt"/>
              <a:cs typeface="+mn-lt"/>
            </a:endParaRPr>
          </a:p>
          <a:p>
            <a:r>
              <a:rPr lang="ru-RU" sz="1400">
                <a:solidFill>
                  <a:srgbClr val="FFFFFF"/>
                </a:solidFill>
                <a:ea typeface="+mn-lt"/>
                <a:cs typeface="+mn-lt"/>
              </a:rPr>
              <a:t>    }</a:t>
            </a:r>
            <a:endParaRPr lang="ru-RU"/>
          </a:p>
          <a:p>
            <a:r>
              <a:rPr lang="ru-RU" sz="1400">
                <a:solidFill>
                  <a:srgbClr val="FFFFFF"/>
                </a:solidFill>
                <a:ea typeface="+mn-lt"/>
                <a:cs typeface="+mn-lt"/>
              </a:rPr>
              <a:t>]</a:t>
            </a:r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6485BB-89BC-E78E-ECD5-70EB261C2286}"/>
              </a:ext>
            </a:extLst>
          </p:cNvPr>
          <p:cNvSpPr txBox="1"/>
          <p:nvPr/>
        </p:nvSpPr>
        <p:spPr>
          <a:xfrm>
            <a:off x="616324" y="1243853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Saglabāšana notiek tikai pēc lietotāja izvēles</a:t>
            </a:r>
          </a:p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30A9C89-CB46-A43F-C600-0A629B8BEC84}"/>
              </a:ext>
            </a:extLst>
          </p:cNvPr>
          <p:cNvSpPr/>
          <p:nvPr/>
        </p:nvSpPr>
        <p:spPr>
          <a:xfrm>
            <a:off x="7234894" y="1892377"/>
            <a:ext cx="4343965" cy="2841590"/>
          </a:xfrm>
          <a:prstGeom prst="rect">
            <a:avLst/>
          </a:prstGeom>
          <a:solidFill>
            <a:srgbClr val="FFF1F1"/>
          </a:solidFill>
          <a:ln>
            <a:solidFill>
              <a:srgbClr val="A21C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>
                <a:solidFill>
                  <a:srgbClr val="A21C1C"/>
                </a:solidFill>
                <a:ea typeface="+mn-lt"/>
                <a:cs typeface="+mn-lt"/>
              </a:rPr>
              <a:t>Drošības piezīme: JSON fails nav šifrēts, tāpēc</a:t>
            </a:r>
            <a:endParaRPr lang="ru-RU" sz="2000">
              <a:solidFill>
                <a:srgbClr val="A21C1C"/>
              </a:solidFill>
            </a:endParaRPr>
          </a:p>
          <a:p>
            <a:r>
              <a:rPr lang="ru-RU" sz="2000">
                <a:solidFill>
                  <a:srgbClr val="A21C1C"/>
                </a:solidFill>
                <a:ea typeface="+mn-lt"/>
                <a:cs typeface="+mn-lt"/>
              </a:rPr>
              <a:t>īstas kontu paroles tajā nevajadzētu glabāt bez</a:t>
            </a:r>
            <a:endParaRPr lang="ru-RU" sz="2000">
              <a:solidFill>
                <a:srgbClr val="A21C1C"/>
              </a:solidFill>
            </a:endParaRPr>
          </a:p>
          <a:p>
            <a:r>
              <a:rPr lang="ru-RU" sz="2000">
                <a:solidFill>
                  <a:srgbClr val="A21C1C"/>
                </a:solidFill>
                <a:ea typeface="+mn-lt"/>
                <a:cs typeface="+mn-lt"/>
              </a:rPr>
              <a:t>aizsardzības.</a:t>
            </a:r>
            <a:endParaRPr lang="ru-RU" sz="2000">
              <a:solidFill>
                <a:srgbClr val="A2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2586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36A2C9-1662-05A6-3837-10339E080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90905"/>
            <a:ext cx="4860137" cy="684022"/>
          </a:xfrm>
        </p:spPr>
        <p:txBody>
          <a:bodyPr/>
          <a:lstStyle/>
          <a:p>
            <a:r>
              <a:rPr lang="ru-RU">
                <a:solidFill>
                  <a:srgbClr val="082047"/>
                </a:solidFill>
                <a:ea typeface="+mj-lt"/>
                <a:cs typeface="+mj-lt"/>
              </a:rPr>
              <a:t>Testēšanas rezultāti</a:t>
            </a:r>
            <a:endParaRPr lang="ru-RU">
              <a:solidFill>
                <a:srgbClr val="082047"/>
              </a:solidFill>
            </a:endParaRPr>
          </a:p>
        </p:txBody>
      </p:sp>
      <p:pic>
        <p:nvPicPr>
          <p:cNvPr id="5" name="Объект 4" descr="/mnt/data/ppt_assets/test_table_crop1.png">
            <a:extLst>
              <a:ext uri="{FF2B5EF4-FFF2-40B4-BE49-F238E27FC236}">
                <a16:creationId xmlns:a16="http://schemas.microsoft.com/office/drawing/2014/main" id="{5495F18D-E7BC-B8DC-0BB9-57D850EA04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35642" y="2115290"/>
            <a:ext cx="7900147" cy="30323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3D51A9-5A20-9882-CED5-5099FBE23EBE}"/>
              </a:ext>
            </a:extLst>
          </p:cNvPr>
          <p:cNvSpPr txBox="1"/>
          <p:nvPr/>
        </p:nvSpPr>
        <p:spPr>
          <a:xfrm>
            <a:off x="616324" y="974912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ea typeface="+mn-lt"/>
                <a:cs typeface="+mn-lt"/>
              </a:rPr>
              <a:t>Pārbaudītas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galvenās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prasības</a:t>
            </a:r>
            <a:r>
              <a:rPr lang="en-US" dirty="0">
                <a:ea typeface="+mn-lt"/>
                <a:cs typeface="+mn-lt"/>
              </a:rPr>
              <a:t> K1-K8</a:t>
            </a:r>
            <a:endParaRPr lang="ru-RU" dirty="0">
              <a:ea typeface="+mn-lt"/>
              <a:cs typeface="+mn-lt"/>
            </a:endParaRPr>
          </a:p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76BC04-F4A2-EDC8-CB76-E99103EF521C}"/>
              </a:ext>
            </a:extLst>
          </p:cNvPr>
          <p:cNvSpPr txBox="1"/>
          <p:nvPr/>
        </p:nvSpPr>
        <p:spPr>
          <a:xfrm>
            <a:off x="8135471" y="952500"/>
            <a:ext cx="3148853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 err="1">
                <a:solidFill>
                  <a:srgbClr val="082047"/>
                </a:solidFill>
              </a:rPr>
              <a:t>Testēšanas</a:t>
            </a:r>
            <a:r>
              <a:rPr lang="en-US" sz="2000" b="1" dirty="0">
                <a:solidFill>
                  <a:srgbClr val="082047"/>
                </a:solidFill>
              </a:rPr>
              <a:t> </a:t>
            </a:r>
            <a:r>
              <a:rPr lang="en-US" sz="2000" b="1" dirty="0" err="1">
                <a:solidFill>
                  <a:srgbClr val="082047"/>
                </a:solidFill>
              </a:rPr>
              <a:t>pārklājums</a:t>
            </a:r>
            <a:endParaRPr lang="en-US" sz="2000" b="1" dirty="0">
              <a:solidFill>
                <a:srgbClr val="082047"/>
              </a:solidFill>
            </a:endParaRPr>
          </a:p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308B2D-D4FC-E516-E17F-797EBE96B51F}"/>
              </a:ext>
            </a:extLst>
          </p:cNvPr>
          <p:cNvSpPr txBox="1"/>
          <p:nvPr/>
        </p:nvSpPr>
        <p:spPr>
          <a:xfrm>
            <a:off x="8135471" y="1624852"/>
            <a:ext cx="3014383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dirty="0" err="1">
                <a:ea typeface="+mn-lt"/>
                <a:cs typeface="+mn-lt"/>
              </a:rPr>
              <a:t>Derīgs</a:t>
            </a:r>
            <a:r>
              <a:rPr lang="en-US" sz="1600" dirty="0">
                <a:ea typeface="+mn-lt"/>
                <a:cs typeface="+mn-lt"/>
              </a:rPr>
              <a:t> un </a:t>
            </a:r>
            <a:r>
              <a:rPr lang="en-US" sz="1600" dirty="0" err="1">
                <a:ea typeface="+mn-lt"/>
                <a:cs typeface="+mn-lt"/>
              </a:rPr>
              <a:t>nederīgs</a:t>
            </a:r>
            <a:r>
              <a:rPr lang="en-US" sz="1600" dirty="0">
                <a:ea typeface="+mn-lt"/>
                <a:cs typeface="+mn-lt"/>
              </a:rPr>
              <a:t> paroles garums. </a:t>
            </a:r>
            <a:endParaRPr lang="ru-RU" sz="1600" dirty="0"/>
          </a:p>
          <a:p>
            <a:pPr marL="285750" indent="-285750">
              <a:buFont typeface="Arial"/>
              <a:buChar char="•"/>
            </a:pPr>
            <a:endParaRPr lang="en-US" sz="1600" dirty="0"/>
          </a:p>
          <a:p>
            <a:pPr marL="285750" indent="-285750">
              <a:buFont typeface="Arial"/>
              <a:buChar char="•"/>
            </a:pPr>
            <a:r>
              <a:rPr lang="en-US" sz="1600" dirty="0" err="1">
                <a:ea typeface="+mn-lt"/>
                <a:cs typeface="+mn-lt"/>
              </a:rPr>
              <a:t>Simbolu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dirty="0" err="1">
                <a:ea typeface="+mn-lt"/>
                <a:cs typeface="+mn-lt"/>
              </a:rPr>
              <a:t>tipu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dirty="0" err="1">
                <a:ea typeface="+mn-lt"/>
                <a:cs typeface="+mn-lt"/>
              </a:rPr>
              <a:t>izvēle</a:t>
            </a:r>
            <a:r>
              <a:rPr lang="en-US" sz="1600" dirty="0">
                <a:ea typeface="+mn-lt"/>
                <a:cs typeface="+mn-lt"/>
              </a:rPr>
              <a:t> un </a:t>
            </a:r>
            <a:r>
              <a:rPr lang="en-US" sz="1600" dirty="0" err="1">
                <a:ea typeface="+mn-lt"/>
                <a:cs typeface="+mn-lt"/>
              </a:rPr>
              <a:t>tukša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dirty="0" err="1">
                <a:ea typeface="+mn-lt"/>
                <a:cs typeface="+mn-lt"/>
              </a:rPr>
              <a:t>izvēle</a:t>
            </a:r>
            <a:r>
              <a:rPr lang="en-US" sz="1600" dirty="0">
                <a:ea typeface="+mn-lt"/>
                <a:cs typeface="+mn-lt"/>
              </a:rPr>
              <a:t>. </a:t>
            </a:r>
            <a:endParaRPr lang="en-US" sz="1600" dirty="0"/>
          </a:p>
          <a:p>
            <a:pPr marL="285750" indent="-285750">
              <a:buFont typeface="Arial"/>
              <a:buChar char="•"/>
            </a:pPr>
            <a:endParaRPr lang="en-US" sz="1600" dirty="0"/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Paroles </a:t>
            </a:r>
            <a:r>
              <a:rPr lang="en-US" sz="1600" dirty="0" err="1">
                <a:ea typeface="+mn-lt"/>
                <a:cs typeface="+mn-lt"/>
              </a:rPr>
              <a:t>ģenerēšana</a:t>
            </a:r>
            <a:r>
              <a:rPr lang="en-US" sz="1600" dirty="0">
                <a:ea typeface="+mn-lt"/>
                <a:cs typeface="+mn-lt"/>
              </a:rPr>
              <a:t> un </a:t>
            </a:r>
            <a:r>
              <a:rPr lang="en-US" sz="1600" dirty="0" err="1">
                <a:ea typeface="+mn-lt"/>
                <a:cs typeface="+mn-lt"/>
              </a:rPr>
              <a:t>drošuma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dirty="0" err="1">
                <a:ea typeface="+mn-lt"/>
                <a:cs typeface="+mn-lt"/>
              </a:rPr>
              <a:t>līmenis</a:t>
            </a:r>
            <a:r>
              <a:rPr lang="en-US" sz="1600" dirty="0">
                <a:ea typeface="+mn-lt"/>
                <a:cs typeface="+mn-lt"/>
              </a:rPr>
              <a:t>. </a:t>
            </a:r>
            <a:endParaRPr lang="en-US" sz="1600" dirty="0"/>
          </a:p>
          <a:p>
            <a:pPr marL="285750" indent="-285750">
              <a:buFont typeface="Arial"/>
              <a:buChar char="•"/>
            </a:pPr>
            <a:endParaRPr lang="en-US" sz="1600" dirty="0"/>
          </a:p>
          <a:p>
            <a:pPr marL="285750" indent="-285750">
              <a:buFont typeface="Arial"/>
              <a:buChar char="•"/>
            </a:pPr>
            <a:r>
              <a:rPr lang="en-US" sz="1600" dirty="0" err="1">
                <a:ea typeface="+mn-lt"/>
                <a:cs typeface="+mn-lt"/>
              </a:rPr>
              <a:t>Kopēšana</a:t>
            </a:r>
            <a:r>
              <a:rPr lang="en-US" sz="1600" dirty="0">
                <a:ea typeface="+mn-lt"/>
                <a:cs typeface="+mn-lt"/>
              </a:rPr>
              <a:t>, JSON </a:t>
            </a:r>
            <a:r>
              <a:rPr lang="en-US" sz="1600" dirty="0" err="1">
                <a:ea typeface="+mn-lt"/>
                <a:cs typeface="+mn-lt"/>
              </a:rPr>
              <a:t>saglabāšana</a:t>
            </a:r>
            <a:r>
              <a:rPr lang="en-US" sz="1600" dirty="0">
                <a:ea typeface="+mn-lt"/>
                <a:cs typeface="+mn-lt"/>
              </a:rPr>
              <a:t> un </a:t>
            </a:r>
            <a:r>
              <a:rPr lang="en-US" sz="1600" dirty="0" err="1">
                <a:ea typeface="+mn-lt"/>
                <a:cs typeface="+mn-lt"/>
              </a:rPr>
              <a:t>tīrīšana</a:t>
            </a:r>
            <a:r>
              <a:rPr lang="en-US" sz="1600" dirty="0">
                <a:ea typeface="+mn-lt"/>
                <a:cs typeface="+mn-lt"/>
              </a:rPr>
              <a:t>. </a:t>
            </a:r>
            <a:endParaRPr lang="en-US" sz="1600" dirty="0"/>
          </a:p>
          <a:p>
            <a:pPr algn="ctr"/>
            <a:endParaRPr lang="ru-RU" sz="1600" dirty="0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2293937F-7462-E3A3-E571-BE1DD1557342}"/>
              </a:ext>
            </a:extLst>
          </p:cNvPr>
          <p:cNvSpPr/>
          <p:nvPr/>
        </p:nvSpPr>
        <p:spPr>
          <a:xfrm>
            <a:off x="8292397" y="5140556"/>
            <a:ext cx="3132877" cy="883278"/>
          </a:xfrm>
          <a:prstGeom prst="roundRect">
            <a:avLst/>
          </a:prstGeom>
          <a:solidFill>
            <a:srgbClr val="DFF7F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>
                <a:solidFill>
                  <a:srgbClr val="1E9A67"/>
                </a:solidFill>
                <a:ea typeface="+mn-lt"/>
                <a:cs typeface="+mn-lt"/>
              </a:rPr>
              <a:t>T1-T14 </a:t>
            </a:r>
            <a:endParaRPr lang="ru-RU" b="1">
              <a:solidFill>
                <a:srgbClr val="1E9A67"/>
              </a:solidFill>
            </a:endParaRPr>
          </a:p>
          <a:p>
            <a:pPr algn="ctr"/>
            <a:r>
              <a:rPr lang="ru-RU" b="1">
                <a:solidFill>
                  <a:srgbClr val="1E9A67"/>
                </a:solidFill>
                <a:ea typeface="+mn-lt"/>
                <a:cs typeface="+mn-lt"/>
              </a:rPr>
              <a:t>visi testi izpildīti</a:t>
            </a:r>
            <a:endParaRPr lang="ru-RU" b="1">
              <a:solidFill>
                <a:srgbClr val="1E9A6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8845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5721AC-22F0-E6FF-525D-DAB40D463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34875"/>
            <a:ext cx="7269402" cy="1132258"/>
          </a:xfrm>
        </p:spPr>
        <p:txBody>
          <a:bodyPr/>
          <a:lstStyle/>
          <a:p>
            <a:r>
              <a:rPr lang="ru-RU">
                <a:solidFill>
                  <a:srgbClr val="082047"/>
                </a:solidFill>
                <a:ea typeface="+mj-lt"/>
                <a:cs typeface="+mj-lt"/>
              </a:rPr>
              <a:t>Rezultāts un projekta nodošana</a:t>
            </a:r>
            <a:endParaRPr lang="ru-RU">
              <a:solidFill>
                <a:srgbClr val="082047"/>
              </a:solidFill>
            </a:endParaRPr>
          </a:p>
        </p:txBody>
      </p:sp>
      <p:pic>
        <p:nvPicPr>
          <p:cNvPr id="5" name="Объект 4" descr="/mnt/data/a_clean_flat_vector_illustration_infographic_sty.png">
            <a:extLst>
              <a:ext uri="{FF2B5EF4-FFF2-40B4-BE49-F238E27FC236}">
                <a16:creationId xmlns:a16="http://schemas.microsoft.com/office/drawing/2014/main" id="{EBA53D01-BF08-D47D-A4CB-97CB16F949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105593" y="1711878"/>
            <a:ext cx="3981450" cy="2247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DE10D1-CAB8-08AB-74FA-FA3EB3B6558A}"/>
              </a:ext>
            </a:extLst>
          </p:cNvPr>
          <p:cNvSpPr txBox="1"/>
          <p:nvPr/>
        </p:nvSpPr>
        <p:spPr>
          <a:xfrm>
            <a:off x="616324" y="918882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Kas ir sagatavots GitHub repozitorijā</a:t>
            </a:r>
          </a:p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C6B554-93D5-614E-64E6-5D0579945AE0}"/>
              </a:ext>
            </a:extLst>
          </p:cNvPr>
          <p:cNvSpPr txBox="1"/>
          <p:nvPr/>
        </p:nvSpPr>
        <p:spPr>
          <a:xfrm>
            <a:off x="795617" y="4235823"/>
            <a:ext cx="170329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/>
              <a:t>Programma</a:t>
            </a:r>
            <a:endParaRPr lang="en-US" b="1"/>
          </a:p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BC11DE-889F-BBA9-6E70-41F1C6AE3082}"/>
              </a:ext>
            </a:extLst>
          </p:cNvPr>
          <p:cNvSpPr txBox="1"/>
          <p:nvPr/>
        </p:nvSpPr>
        <p:spPr>
          <a:xfrm>
            <a:off x="5334000" y="4235823"/>
            <a:ext cx="153520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/>
              <a:t>Dokumenti</a:t>
            </a:r>
          </a:p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869D1F-B410-33A8-0284-B1AD28D7ECA2}"/>
              </a:ext>
            </a:extLst>
          </p:cNvPr>
          <p:cNvSpPr txBox="1"/>
          <p:nvPr/>
        </p:nvSpPr>
        <p:spPr>
          <a:xfrm>
            <a:off x="9962030" y="4235823"/>
            <a:ext cx="137832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GitHub</a:t>
            </a:r>
          </a:p>
          <a:p>
            <a:pPr algn="ctr"/>
            <a:endParaRPr lang="ru-RU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430A93FE-84C1-721B-1A5D-A36C2C6F85AA}"/>
              </a:ext>
            </a:extLst>
          </p:cNvPr>
          <p:cNvCxnSpPr/>
          <p:nvPr/>
        </p:nvCxnSpPr>
        <p:spPr>
          <a:xfrm flipV="1">
            <a:off x="798699" y="4719679"/>
            <a:ext cx="1402777" cy="1649"/>
          </a:xfrm>
          <a:prstGeom prst="straightConnector1">
            <a:avLst/>
          </a:prstGeom>
          <a:ln w="57150">
            <a:solidFill>
              <a:srgbClr val="16C8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56FE00EE-7292-22C1-6EE2-5B61D34833A3}"/>
              </a:ext>
            </a:extLst>
          </p:cNvPr>
          <p:cNvCxnSpPr>
            <a:cxnSpLocks/>
          </p:cNvCxnSpPr>
          <p:nvPr/>
        </p:nvCxnSpPr>
        <p:spPr>
          <a:xfrm flipV="1">
            <a:off x="5337081" y="4719679"/>
            <a:ext cx="1402777" cy="1649"/>
          </a:xfrm>
          <a:prstGeom prst="straightConnector1">
            <a:avLst/>
          </a:prstGeom>
          <a:ln w="57150">
            <a:solidFill>
              <a:srgbClr val="16C8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478F589B-7813-6FA0-CBF7-9A7C051A0AED}"/>
              </a:ext>
            </a:extLst>
          </p:cNvPr>
          <p:cNvCxnSpPr>
            <a:cxnSpLocks/>
          </p:cNvCxnSpPr>
          <p:nvPr/>
        </p:nvCxnSpPr>
        <p:spPr>
          <a:xfrm flipV="1">
            <a:off x="9808228" y="4708473"/>
            <a:ext cx="1402777" cy="1649"/>
          </a:xfrm>
          <a:prstGeom prst="straightConnector1">
            <a:avLst/>
          </a:prstGeom>
          <a:ln w="57150">
            <a:solidFill>
              <a:srgbClr val="16C8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9B839F1-4797-B0B6-9CB7-A31E80674602}"/>
              </a:ext>
            </a:extLst>
          </p:cNvPr>
          <p:cNvSpPr txBox="1"/>
          <p:nvPr/>
        </p:nvSpPr>
        <p:spPr>
          <a:xfrm>
            <a:off x="638736" y="4885764"/>
            <a:ext cx="2005854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/>
              <a:t>Python + </a:t>
            </a:r>
            <a:r>
              <a:rPr lang="en-US" sz="1600" dirty="0" err="1"/>
              <a:t>Tkinter</a:t>
            </a:r>
            <a:r>
              <a:rPr lang="en-US" sz="1600" dirty="0"/>
              <a:t>​ </a:t>
            </a:r>
            <a:r>
              <a:rPr lang="en-US" sz="1600" dirty="0" err="1"/>
              <a:t>paroļu</a:t>
            </a:r>
            <a:r>
              <a:rPr lang="en-US" sz="1600" dirty="0"/>
              <a:t> </a:t>
            </a:r>
            <a:r>
              <a:rPr lang="en-US" sz="1600" dirty="0" err="1"/>
              <a:t>ģenerēšana</a:t>
            </a:r>
            <a:endParaRPr lang="en-US" sz="1600" dirty="0"/>
          </a:p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53579D-0644-45AA-08A6-EE05BCDDCDB7}"/>
              </a:ext>
            </a:extLst>
          </p:cNvPr>
          <p:cNvSpPr txBox="1"/>
          <p:nvPr/>
        </p:nvSpPr>
        <p:spPr>
          <a:xfrm>
            <a:off x="4908176" y="4885764"/>
            <a:ext cx="2386853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 err="1"/>
              <a:t>tehniskā</a:t>
            </a:r>
            <a:r>
              <a:rPr lang="en-US" sz="1600" dirty="0"/>
              <a:t> </a:t>
            </a:r>
            <a:r>
              <a:rPr lang="en-US" sz="1600" dirty="0" err="1"/>
              <a:t>specifikācija</a:t>
            </a:r>
            <a:r>
              <a:rPr lang="en-US" sz="1600" dirty="0"/>
              <a:t>​ </a:t>
            </a:r>
            <a:r>
              <a:rPr lang="en-US" sz="1600" dirty="0" err="1"/>
              <a:t>testēšanas</a:t>
            </a:r>
            <a:r>
              <a:rPr lang="en-US" sz="1600" dirty="0"/>
              <a:t> </a:t>
            </a:r>
            <a:r>
              <a:rPr lang="en-US" sz="1600" dirty="0" err="1"/>
              <a:t>dokumentācija</a:t>
            </a:r>
            <a:endParaRPr lang="en-US" sz="1600"/>
          </a:p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36A87C-6C13-0594-ECAF-E22107BE6761}"/>
              </a:ext>
            </a:extLst>
          </p:cNvPr>
          <p:cNvSpPr txBox="1"/>
          <p:nvPr/>
        </p:nvSpPr>
        <p:spPr>
          <a:xfrm>
            <a:off x="9513794" y="4885764"/>
            <a:ext cx="1983442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/>
              <a:t>README + </a:t>
            </a:r>
            <a:r>
              <a:rPr lang="en-US" sz="1600" dirty="0" err="1"/>
              <a:t>projekta</a:t>
            </a:r>
            <a:r>
              <a:rPr lang="en-US" sz="1600" dirty="0"/>
              <a:t> </a:t>
            </a:r>
            <a:r>
              <a:rPr lang="en-US" sz="1600" dirty="0" err="1"/>
              <a:t>faili</a:t>
            </a:r>
            <a:r>
              <a:rPr lang="en-US" sz="1600" dirty="0"/>
              <a:t>​ </a:t>
            </a:r>
            <a:r>
              <a:rPr lang="en-US" sz="1600" dirty="0" err="1"/>
              <a:t>redzami</a:t>
            </a:r>
            <a:r>
              <a:rPr lang="en-US" sz="1600" dirty="0"/>
              <a:t> </a:t>
            </a:r>
            <a:r>
              <a:rPr lang="en-US" sz="1600" dirty="0" err="1"/>
              <a:t>kommiti</a:t>
            </a:r>
            <a:r>
              <a:rPr lang="en-US" sz="1600" dirty="0"/>
              <a:t>​</a:t>
            </a:r>
            <a:endParaRPr lang="ru-RU"/>
          </a:p>
          <a:p>
            <a:pPr algn="ctr"/>
            <a:endParaRPr lang="ru-RU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023DDFCB-7E5A-AEEF-A148-805516AD6D50}"/>
              </a:ext>
            </a:extLst>
          </p:cNvPr>
          <p:cNvSpPr/>
          <p:nvPr/>
        </p:nvSpPr>
        <p:spPr>
          <a:xfrm>
            <a:off x="640047" y="5962249"/>
            <a:ext cx="10861561" cy="634734"/>
          </a:xfrm>
          <a:prstGeom prst="roundRect">
            <a:avLst/>
          </a:prstGeom>
          <a:solidFill>
            <a:srgbClr val="0820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>
                <a:ea typeface="+mn-lt"/>
                <a:cs typeface="+mn-lt"/>
              </a:rPr>
              <a:t>Secinājums: projekts izpilda K1-K8 prasības un ir sagatavots nodošanai GitHub.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5713122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VanillaVTI</vt:lpstr>
      <vt:lpstr>Drošu paroļu ģenerators</vt:lpstr>
      <vt:lpstr>Problēma un mērķis </vt:lpstr>
      <vt:lpstr>Risinājuma pārskats</vt:lpstr>
      <vt:lpstr>Saskarne un lietošana</vt:lpstr>
      <vt:lpstr>Programmas loģika</vt:lpstr>
      <vt:lpstr>JSON datu glabāšana</vt:lpstr>
      <vt:lpstr>Testēšanas rezultāti</vt:lpstr>
      <vt:lpstr>Rezultāts un projekta nodošana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443</cp:revision>
  <dcterms:created xsi:type="dcterms:W3CDTF">2026-06-11T14:44:34Z</dcterms:created>
  <dcterms:modified xsi:type="dcterms:W3CDTF">2026-06-11T16:18:00Z</dcterms:modified>
</cp:coreProperties>
</file>